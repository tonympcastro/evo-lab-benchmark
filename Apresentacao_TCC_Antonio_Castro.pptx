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Apresentação do TCC e cumprimentos à banca examinadora.</a:t>
            </a:r>
          </a:p>
          <a:p>
            <a:r>
              <a:t>Tempo estimado: 1 minuto.</a:t>
            </a:r>
          </a:p>
          <a:p>
            <a:r>
              <a:t>Pontos importantes: Agradecer ao orientador.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Apresentar rapidamente os tópicos da defesa.</a:t>
            </a:r>
          </a:p>
          <a:p>
            <a:r>
              <a:t>Tempo: 30 segundos.</a:t>
            </a:r>
          </a:p>
          <a:p>
            <a:r>
              <a:t>Pontos importantes: Mostrar organização e fluidez.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Explicar o crescimento de problemas de otimização em dados.</a:t>
            </a:r>
          </a:p>
          <a:p>
            <a:r>
              <a:t>Tempo: 1 minuto.</a:t>
            </a:r>
          </a:p>
          <a:p>
            <a:r>
              <a:t>Pontos: Modelos complexos exigem solvers robustos.</a:t>
            </a:r>
          </a:p>
          <a:p>
            <a:r>
              <a:t>Pergunta possível: Por que métodos exatos falham? R: Porque a derivada não resolve espaços não-convexos.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Por que esse trabalho existe. Falta padronização empírica.</a:t>
            </a:r>
          </a:p>
          <a:p>
            <a:r>
              <a:t>Tempo: 1 minuto.</a:t>
            </a:r>
          </a:p>
          <a:p>
            <a:r>
              <a:t>Pontos: Mostrar que a literatura está confusa e enviesada.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Explicar as perguntas centrais do trabalho.</a:t>
            </a:r>
          </a:p>
          <a:p>
            <a:r>
              <a:t>Tempo: 1 minuto.</a:t>
            </a:r>
          </a:p>
          <a:p>
            <a:r>
              <a:t>Pontos: A estagnação algorítmica e a rigidez paramétrica.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Apresentar o que entregaremos.</a:t>
            </a:r>
          </a:p>
          <a:p>
            <a:r>
              <a:t>Tempo: 1 minuto.</a:t>
            </a:r>
          </a:p>
          <a:p>
            <a:r>
              <a:t>Pontos: Ênfase na plataforma padronizada e no rigor estatístico.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Revisão teórica rápida.</a:t>
            </a:r>
          </a:p>
          <a:p>
            <a:r>
              <a:t>Tempo: 1 minuto.</a:t>
            </a:r>
          </a:p>
          <a:p>
            <a:r>
              <a:t>Pontos: O balanço entre explorar (descobrir) e explotar (refinar).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Visão geral das seis técnicas testadas.</a:t>
            </a:r>
          </a:p>
          <a:p>
            <a:r>
              <a:t>Tempo: 2 minutos.</a:t>
            </a:r>
          </a:p>
          <a:p>
            <a:r>
              <a:t>Pontos: Contraste entre clássicos, modernos e híbridos (IA).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Como a plataforma garante justiça e isenção.</a:t>
            </a:r>
          </a:p>
          <a:p>
            <a:r>
              <a:t>Tempo: 1 minuto.</a:t>
            </a:r>
          </a:p>
          <a:p>
            <a:r>
              <a:t>Pontos: O sistema impede vantagens algorítmicas de baixo 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Passo a passo da metodologia.</a:t>
            </a:r>
          </a:p>
          <a:p>
            <a:r>
              <a:t>Tempo: 1 minuto.</a:t>
            </a:r>
          </a:p>
          <a:p>
            <a:r>
              <a:t>Pontos: As 30 execuções isolam fatores puramente aleatórios.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O campo de prova matemático.</a:t>
            </a:r>
          </a:p>
          <a:p>
            <a:r>
              <a:t>Tempo: 1 minuto.</a:t>
            </a:r>
          </a:p>
          <a:p>
            <a:r>
              <a:t>Pontos: Rastrigin é severa, testa capacidade exploratória bruta.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Aplicação prática na Engenharia de Dados.</a:t>
            </a:r>
          </a:p>
          <a:p>
            <a:r>
              <a:t>Tempo: 1 minuto.</a:t>
            </a:r>
          </a:p>
          <a:p>
            <a:r>
              <a:t>Pontos: Mostrar que não avaliamos apenas matemática teórica.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Stack tecnológico.</a:t>
            </a:r>
          </a:p>
          <a:p>
            <a:r>
              <a:t>Tempo: 1 min.</a:t>
            </a:r>
          </a:p>
          <a:p>
            <a:r>
              <a:t>Pergunta: Por que usar a nuvem? R: Isolar flutuações de background de CPU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Os resultados da matemática multivariada.</a:t>
            </a:r>
          </a:p>
          <a:p>
            <a:r>
              <a:t>Tempo: 1.5 minuto.</a:t>
            </a:r>
          </a:p>
          <a:p>
            <a:r>
              <a:t>Pontos: Mostrar o Gráfico de Convergência (Eixo Y logarítmico).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O desastre de alguns algoritmos na vida real.</a:t>
            </a:r>
          </a:p>
          <a:p>
            <a:r>
              <a:t>Tempo: 1 minuto.</a:t>
            </a:r>
          </a:p>
          <a:p>
            <a:r>
              <a:t>Pontos: O algoritmo da Beluga falhou pela aleatoriedade cega.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A prova cabal e científica.</a:t>
            </a:r>
          </a:p>
          <a:p>
            <a:r>
              <a:t>Tempo: 1 minuto.</a:t>
            </a:r>
          </a:p>
          <a:p>
            <a:r>
              <a:t>Pontos: Não dependemos da sorte, a estatística cravou a vitória.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Quem venceu afinal?</a:t>
            </a:r>
          </a:p>
          <a:p>
            <a:r>
              <a:t>Tempo: 1.5 minuto.</a:t>
            </a:r>
          </a:p>
          <a:p>
            <a:r>
              <a:t>Pontos: QL-GWO venceu na vida real, GWO venceu na matemática teórica.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O que entregamos à sociedade e à universidade.</a:t>
            </a:r>
          </a:p>
          <a:p>
            <a:r>
              <a:t>Tempo: 1 minuto.</a:t>
            </a:r>
          </a:p>
          <a:p>
            <a:r>
              <a:t>Pontos: Destacar a plataforma de software criada.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Fechamento das análises.</a:t>
            </a:r>
          </a:p>
          <a:p>
            <a:r>
              <a:t>Tempo: 1 minuto.</a:t>
            </a:r>
          </a:p>
          <a:p>
            <a:r>
              <a:t>Pontos: Responder à pergunta de pesquisa (Sim, a IA híbrida vale a pena).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O que não foi possível fazer.</a:t>
            </a:r>
          </a:p>
          <a:p>
            <a:r>
              <a:t>Tempo: 1 min.</a:t>
            </a:r>
          </a:p>
          <a:p>
            <a:r>
              <a:t>Pergunta: Por que 30 execuções? R: Padrão mínimo para Teorema do Limite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Para onde vai o projeto a partir de hoje.</a:t>
            </a:r>
          </a:p>
          <a:p>
            <a:r>
              <a:t>Tempo: 1 minuto.</a:t>
            </a:r>
          </a:p>
          <a:p>
            <a:r>
              <a:t>Pontos: As melhorias óbvias da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Falar: Agradecimentos finais à banca.</a:t>
            </a:r>
          </a:p>
          <a:p>
            <a:r>
              <a:t>Tempo: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86000"/>
          </a:xfrm>
        </p:spPr>
        <p:txBody>
          <a:bodyPr/>
          <a:lstStyle/>
          <a:p>
            <a:pPr>
              <a:defRPr b="1" sz="3600">
                <a:solidFill>
                  <a:srgbClr val="0A1E50"/>
                </a:solidFill>
              </a:defRPr>
            </a:pPr>
            <a:r>
              <a:t>ANÁLISE DE ALGORITMOS BIOINSPIRADOS EM PROBLEMAS DE OTIMIZAÇÃO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114800"/>
          </a:xfrm>
        </p:spPr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Autor: Antonio Marcos Patricio Castro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Universidade Federal do Maranhão (UFMA)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Curso: Bacharelado Interdisciplinar em Ciência e Tecnologia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Orientador: Prof. Dr. Pedro Baptista Fernandes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2026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Contextualização e Motivação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Problema de Pesquisa e Objetivos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Fundamentação Teórica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Algoritmos Estudados e Arquitetura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Metodologia Experimental e Benchmarks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Resultados e Análise Estatística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Conclusão e Trabalhos Futuros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Contextualização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Avanço em IA aumenta a complexidade matemática.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Problemas NP-difíceis, não convexos e alta dimensão.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Soluções clássicas aprisionadas em ótimos locais.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Uso consolidado de meta-heurísticas bioinspiradas.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imagem de uma topologia não-convexa (ex: cheia de picos e vales) ilustrando Ótimos Locais.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Motivação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Algoritmos originais carecem de poder de exploração.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Híbridos trazem custo computacional extremamente elevado.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Faltam avaliações padronizadas, reproduzíveis e estatísticas.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Necessidade de validar arquiteturas frente à esparsidade.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Problema de Pesquisa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O incremento de complexidade justifica o alto custo?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Como mitigar a dependência de parâmetros rígidos?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Arquiteturas híbridas superam o dilema exploração vs explotação?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Qual o impacto real da Maldição da Dimensionalidade?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Diagrama de Interrogação / Fluxo do Problema (Rigidez -&gt; Estagnação -&gt; Solução IA).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Geral: Analisar o comportamento de algoritmos bioinspirados unificadamente.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Específico: Estruturar plataforma de benchmark padronizada.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Específico: Avaliar complexidade e tempo de CPU.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Específico: Aplicar em FS e HPO de Machine Learning.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Específico: Validar com testes estatísticos não-paramétricos.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Fundamentação Teórica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Teorema No Free Lunch: Nenhum otimizador é absoluto.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Exploração: Varredura global e diversificação do enxame.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Explotação: Refinamento intensivo da melhor solução encontrada.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Evolução: Dos insetos sociais ao Aprendizado por Reforço.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diagrama de gangorra (Exploração vs Explotação).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Algoritmos Estudados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PSO: Pássaros. Rápido, mas sofre convergência prematura.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ACO: Formigas e estigmergia. Excelente em grafos.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GWO: Lobos e hierarquia. Alta precisão matemática.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BWO: Belugas e Whale Fall. Colapsa em alta dimensão.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QL-GWO: IA Tabular adaptando as fases dinamicamente.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DRL-BWO: Redes Profundas para seleção binária acelerada.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41148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Tabela Comparativa (Pros/Cons/Complexidade) dos Algoritmos.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Arquitetura da Plataforma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Modelagem Orientada a Objetos para isolar viés.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Classe de Controle: Orquestra chamadas estritamente justas.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Classe Base: Padroniza contagem interna de NFEs.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Módulo Gráfico: Renderização visual totalmente acadêmica.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828800"/>
            <a:ext cx="45720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Redesenhar o Fluxograma do Trabalho original (Arquitetura POO).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Fluxo Experimental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Configuração inicial de agentes, dimensões e repetições.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Submissão aos problemas matemáticos base.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Extração de métricas operacionais (Custo e Tempo).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Tratamento de outliers e execução de pós-testes estatísticos.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Consolidação via Heatmaps, Violin Plots e Boxplots.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828800"/>
            <a:ext cx="41148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diagrama de blocos: Config-&gt; Problema-&gt; Coleta-&gt; Estatística-&gt; Resultado.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Funções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Rastrigin: Armadilhas locais em formato de grade regular.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Ackley, Sphere, Rosenbrock, Schwefel, Griewank.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Avaliam escape sob extrema multimodalidade e esparsidade.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Forçam dimensões rigorosas padronizadas em D=30 e D=50.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pequenas imagens 3D das funções Rastrigin e Ackley em Tabela.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Problemas Reais de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Feature Selection (FS): Altíssima esparsidade contínua (D=150).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Hyperparameter Optimization (HPO): Espaço não estacionário (D=6).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Base de Dados: GunPoint (séries temporais reais).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Modelo Base: K-Nearest Neighbors (KNN).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representação esquemática do FS (Vetor de características 0/1).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Metodologia Computacional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Ambiente: Computação em nuvem via Google Colab.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Linguagem Central: Python (Ecossistema científico).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Modelagem Deep Learning: PyTorch e tensores isolados.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Validação ML: Scikit-Learn com Validação Cruzada.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Restrição Orçamentária Estrita (NFEs igualadas para todos).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Resultados: Função Rastrigin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PSO e ACO estagnaram nas armadilhas locais rapidamente.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GWO mergulhou maciçamente à bacia global (Custo E-13).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QL-GWO equilibrou bem a evasão de picos locais.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Observado claro Trade-off entre Custo Computacional e Precisão.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Gráfico de Convergência da Função Rastrigin (Tempo x Custo).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Resultados: 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Maldição da Dimensionalidade (D=150) puniu modelos simples.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BWO colapsou; Whale Fall foi desastroso neste domínio.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GWO exibiu robustez geométrica excepcional.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QL-GWO seguiu de perto, com forte inteligência adaptativa.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gráfico de barras ou boxplot do Erro de Validação FS.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Resultados Estatísticos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Kruskal-Wallis e Friedman confirmam assimetria global p&lt;0.05.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Ranking Friedman consolida GWO e QL-GWO no topo.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Mann-Whitney U comprova vitória matemática estrita.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Cliff's Delta aferiu magnitude Absoluta (Grande) para GWO.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Mapa de Calor (Heatmap) do Cliff's Delta ou Ranking de Friedman.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Discussão e Desempenho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QL-GWO provou ser o mais consistente (menor desvio).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Q-Table substitui decaimentos cegos por micro-ajustes exatos.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BWO possui arquitetura leve, mas inviável por baixa precisão.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GWO lidera entre heurísticas puramente biológicas e matemáticas.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828800"/>
            <a:ext cx="45720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646464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E50"/>
                </a:solidFill>
              </a:defRPr>
            </a:pPr>
            <a:r>
              <a:t>[ ESPAÇO RESERVADO PARA IMAGEM ]</a:t>
            </a:r>
          </a:p>
          <a:p>
            <a:pPr algn="ctr">
              <a:defRPr sz="1400">
                <a:solidFill>
                  <a:srgbClr val="0A1E50"/>
                </a:solidFill>
              </a:defRPr>
            </a:pPr>
            <a:r>
              <a:t>Inserir Gráfico de Dispersão (Trade-Off Tempo CPU vs Custo Final).</a:t>
            </a:r>
          </a:p>
        </p:txBody>
      </p:sp>
      <p:pic>
        <p:nvPicPr>
          <p:cNvPr id="5" name="Picture 4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Contribuições da Pesquisa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Plataforma algorítmica modular pronta para novas avaliações.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Comprovação empírica da eficácia das hibridizações IA-Enxame.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Refutação técnica do BWO para alta complexidade esparsa.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Validação rigorosa que suprime vieses de hardware e sorte.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Objetivos metodológicos cumpridos com extrema precisão.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O decaimento paramétrico rígido demonstrou-se obsoleto.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QL-GWO desponta como escolha mandatória para engenharia.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GWO sustenta soberania nas heurísticas estritamente matemáticas.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Limitações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Custo computacional elevado restringe avaliação massiva (NFE).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Impossibilidade de treinar Redes Neurais Profundas (LSTMs).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Matriz tabular (Q-Learning) exposta à explosão combinatória.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Restrito a 30 execuções dada a infraestrutura disponível.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Sintonia hiperparamétrica para Deep Learning (CNN, LSTM).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Otimização de rotas em ambientes não-estacionários e drones.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Substituição do QL Tabular por DDPG (Atores Contínuos).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Implementação de processamento paralelo e paralelismo de GPU.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E50"/>
                </a:solidFill>
              </a:defRPr>
            </a:pPr>
            <a:r>
              <a:t>Agradecimentos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A1E50"/>
                </a:solidFill>
              </a:defRPr>
            </a:pPr>
            <a:r>
              <a:t>Agradeço ao orientador, familiares e à UFMA.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Obrigado pela atenção de todos.</a:t>
            </a:r>
          </a:p>
          <a:p>
            <a:pPr>
              <a:defRPr sz="2400">
                <a:solidFill>
                  <a:srgbClr val="0A1E50"/>
                </a:solidFill>
              </a:defRPr>
            </a:pPr>
            <a:r>
              <a:t>Aberto a perguntas e arguições da banca.</a:t>
            </a:r>
          </a:p>
        </p:txBody>
      </p:sp>
      <p:pic>
        <p:nvPicPr>
          <p:cNvPr id="4" name="Picture 3" descr="logouf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A. Castro | Análise de Algoritmos Bioinspirados em Problemas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